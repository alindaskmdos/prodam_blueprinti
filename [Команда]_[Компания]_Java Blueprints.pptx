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— [команда], решаем кейс [компании]. Java Blueprints — веб-инструмент, который превращает чужой Java-монолит в схему, как блюпринты в Unreal: находит узкие места, исправляет их и доказывает тестами, что программа ведёт себя так же.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Типичная ситуация: достался монолит на тысячу строк. Структуру не видно, а где-то спрятан вложенный цикл, который на 10 тысячах заказов делает сто миллионов операций. Исправлять страшно: непонятно, сломается ли что-то после правки.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сценарий — один путь из шести шагов: загрузили проект, разобрали код в дерево блоков, увидели схему, исправили, собрали и доказали. Код и схема синхронизируются в обе стороны, источник правды — текст, а методы, которые вы не трогали, сохраняются байт в байт.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метод — дерево блоков в стиле Unreal Blueprints: условия, циклы, try и switch — это ноды, выражения — текст внутри. Правите ноду — сразу меняется Java-код, правите код — меняется схема. То, что не умеем разбирать, остаётся блоком raw с исходным текстом: код никогда не теряется.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Анализатор оценивает Big O каждого метода и ищет дефекты: 13 своих детекторов плюс правила PMD. В демо-проекте вложенный цикл в merge — это около ста миллионов операций на 10 тысячах заказов; после исправления — десять тысяч. Это асимптотическая оценка, а не замер, и мы честно так и пишем.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Исправления не применяются вслепую. Патч накатывается на копию проекта, она компилируется, прогоняются все тесты. Зелёное — получаем новую версию, красное — откат, проект не меняется. Три автофикса: индекс по id, LinkedHashSet и StringBuilder, причём порядок перебора сохраняется.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— доказательство. Оригинал и новая версия запускаются на одних и тех же тестах в Docker-песочнице без сети: IO-тесты сравнивают вывод и код возврата, плюс JUnit. Шумные строки вроде времени не мешают. Если поменять условие в ноде — тест краснеет и показывает diff, то есть проверка настоящая.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 капотом: фронтенд на React с React Flow и Monaco, бэкенд на Java 21 и Spring Boot с JavaParser, а пользовательский код запускается в одноразовых Docker-контейнерах. 13 детекторов плюс PMD, три автофикса и больше 830 автотестов. LLM можно подключить, но без ключа всё работает.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Спасибо! По QR-кодам — исходный код и демо-стенд. Готовы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-1097280"/>
            <a:ext cx="7772400" cy="77724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731520" y="105156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197864"/>
            <a:ext cx="438912" cy="438912"/>
          </a:xfrm>
          <a:prstGeom prst="rect">
            <a:avLst/>
          </a:prstGeom>
        </p:spPr>
      </p:pic>
      <p:sp>
        <p:nvSpPr>
          <p:cNvPr id="5" name="team_chip"/>
          <p:cNvSpPr/>
          <p:nvPr/>
        </p:nvSpPr>
        <p:spPr>
          <a:xfrm>
            <a:off x="731520" y="2148840"/>
            <a:ext cx="4206240" cy="420624"/>
          </a:xfrm>
          <a:prstGeom prst="roundRect">
            <a:avLst>
              <a:gd name="adj" fmla="val 21739"/>
            </a:avLst>
          </a:prstGeom>
          <a:solidFill>
            <a:srgbClr val="5B9BFF">
              <a:alpha val="12000"/>
            </a:srgbClr>
          </a:solidFill>
          <a:ln w="12700">
            <a:solidFill>
              <a:srgbClr val="5B9BFF">
                <a:alpha val="60000"/>
              </a:srgbClr>
            </a:solidFill>
            <a:prstDash val="solid"/>
          </a:ln>
        </p:spPr>
      </p:sp>
      <p:sp>
        <p:nvSpPr>
          <p:cNvPr id="6" name="TEAM_PLACEHOLDER"/>
          <p:cNvSpPr txBox="1"/>
          <p:nvPr/>
        </p:nvSpPr>
        <p:spPr>
          <a:xfrm>
            <a:off x="896112" y="214884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FF"/>
                </a:solidFill>
              </a:rPr>
              <a:t>[Название команды] · кейс [Компания]</a:t>
            </a:r>
            <a:endParaRPr lang="en-US" sz="1500" dirty="0"/>
          </a:p>
        </p:txBody>
      </p:sp>
      <p:sp>
        <p:nvSpPr>
          <p:cNvPr id="7" name="!!title"/>
          <p:cNvSpPr txBox="1"/>
          <p:nvPr/>
        </p:nvSpPr>
        <p:spPr>
          <a:xfrm>
            <a:off x="731520" y="2697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0"/>
                </a:solidFill>
              </a:rPr>
              <a:t>Java Blueprints</a:t>
            </a:r>
            <a:endParaRPr lang="en-US" sz="6000" dirty="0"/>
          </a:p>
        </p:txBody>
      </p:sp>
      <p:sp>
        <p:nvSpPr>
          <p:cNvPr id="8" name="subtitle"/>
          <p:cNvSpPr txBox="1"/>
          <p:nvPr/>
        </p:nvSpPr>
        <p:spPr>
          <a:xfrm>
            <a:off x="731520" y="39319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9AA4B2"/>
                </a:solidFill>
              </a:rPr>
              <a:t>Чужой Java-монолит — как схема. Находим узкие места, исправляем и доказываем, что поведение не изменилось</a:t>
            </a:r>
            <a:endParaRPr lang="en-US" sz="2100" dirty="0"/>
          </a:p>
        </p:txBody>
      </p:sp>
      <p:sp>
        <p:nvSpPr>
          <p:cNvPr id="9" name="!!n1_b"/>
          <p:cNvSpPr/>
          <p:nvPr/>
        </p:nvSpPr>
        <p:spPr>
          <a:xfrm>
            <a:off x="7315200" y="8686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0" name="!!n1_h"/>
          <p:cNvSpPr/>
          <p:nvPr/>
        </p:nvSpPr>
        <p:spPr>
          <a:xfrm>
            <a:off x="7315200" y="868680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!!n1_hf"/>
          <p:cNvSpPr/>
          <p:nvPr/>
        </p:nvSpPr>
        <p:spPr>
          <a:xfrm>
            <a:off x="7315200" y="1069848"/>
            <a:ext cx="329184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!!n1_ht"/>
          <p:cNvSpPr txBox="1"/>
          <p:nvPr/>
        </p:nvSpPr>
        <p:spPr>
          <a:xfrm>
            <a:off x="7461504" y="86868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Метод</a:t>
            </a:r>
            <a:endParaRPr lang="en-US" sz="1400" dirty="0"/>
          </a:p>
        </p:txBody>
      </p:sp>
      <p:sp>
        <p:nvSpPr>
          <p:cNvPr id="13" name="!!n1_bt"/>
          <p:cNvSpPr txBox="1"/>
          <p:nvPr/>
        </p:nvSpPr>
        <p:spPr>
          <a:xfrm>
            <a:off x="7461504" y="13624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merge()</a:t>
            </a:r>
            <a:endParaRPr lang="en-US" sz="1500" dirty="0"/>
          </a:p>
        </p:txBody>
      </p:sp>
      <p:sp>
        <p:nvSpPr>
          <p:cNvPr id="14" name="!!n2_b"/>
          <p:cNvSpPr/>
          <p:nvPr/>
        </p:nvSpPr>
        <p:spPr>
          <a:xfrm>
            <a:off x="7863840" y="224028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25400">
            <a:solidFill>
              <a:srgbClr val="F87171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5" name="!!n2_h"/>
          <p:cNvSpPr/>
          <p:nvPr/>
        </p:nvSpPr>
        <p:spPr>
          <a:xfrm>
            <a:off x="7863840" y="2240280"/>
            <a:ext cx="3749040" cy="402336"/>
          </a:xfrm>
          <a:prstGeom prst="roundRect">
            <a:avLst>
              <a:gd name="adj" fmla="val 27273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!!n2_hf"/>
          <p:cNvSpPr/>
          <p:nvPr/>
        </p:nvSpPr>
        <p:spPr>
          <a:xfrm>
            <a:off x="7863840" y="2441448"/>
            <a:ext cx="3749040" cy="201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!!n2_ht"/>
          <p:cNvSpPr txBox="1"/>
          <p:nvPr/>
        </p:nvSpPr>
        <p:spPr>
          <a:xfrm>
            <a:off x="8010144" y="2240280"/>
            <a:ext cx="3456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Цикл for</a:t>
            </a:r>
            <a:endParaRPr lang="en-US" sz="1400" dirty="0"/>
          </a:p>
        </p:txBody>
      </p:sp>
      <p:sp>
        <p:nvSpPr>
          <p:cNvPr id="18" name="!!n2_bt"/>
          <p:cNvSpPr txBox="1"/>
          <p:nvPr/>
        </p:nvSpPr>
        <p:spPr>
          <a:xfrm>
            <a:off x="8010144" y="2734056"/>
            <a:ext cx="3456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(Order b : orders)</a:t>
            </a:r>
            <a:endParaRPr lang="en-US" sz="1500" dirty="0"/>
          </a:p>
        </p:txBody>
      </p:sp>
      <p:sp>
        <p:nvSpPr>
          <p:cNvPr id="19" name="!!n3_b"/>
          <p:cNvSpPr/>
          <p:nvPr/>
        </p:nvSpPr>
        <p:spPr>
          <a:xfrm>
            <a:off x="7315200" y="36118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0" name="!!n3_h"/>
          <p:cNvSpPr/>
          <p:nvPr/>
        </p:nvSpPr>
        <p:spPr>
          <a:xfrm>
            <a:off x="7315200" y="3611880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!!n3_hf"/>
          <p:cNvSpPr/>
          <p:nvPr/>
        </p:nvSpPr>
        <p:spPr>
          <a:xfrm>
            <a:off x="7315200" y="3813048"/>
            <a:ext cx="3291840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2" name="!!n3_ht"/>
          <p:cNvSpPr txBox="1"/>
          <p:nvPr/>
        </p:nvSpPr>
        <p:spPr>
          <a:xfrm>
            <a:off x="7461504" y="361188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Условие</a:t>
            </a:r>
            <a:endParaRPr lang="en-US" sz="1400" dirty="0"/>
          </a:p>
        </p:txBody>
      </p:sp>
      <p:sp>
        <p:nvSpPr>
          <p:cNvPr id="23" name="!!n3_bt"/>
          <p:cNvSpPr txBox="1"/>
          <p:nvPr/>
        </p:nvSpPr>
        <p:spPr>
          <a:xfrm>
            <a:off x="7461504" y="4105656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a.canMerge(b)</a:t>
            </a:r>
            <a:endParaRPr lang="en-US" sz="1500" dirty="0"/>
          </a:p>
        </p:txBody>
      </p:sp>
      <p:sp>
        <p:nvSpPr>
          <p:cNvPr id="24" name="!!n4_b"/>
          <p:cNvSpPr/>
          <p:nvPr/>
        </p:nvSpPr>
        <p:spPr>
          <a:xfrm>
            <a:off x="7863840" y="498348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5" name="!!n4_h"/>
          <p:cNvSpPr/>
          <p:nvPr/>
        </p:nvSpPr>
        <p:spPr>
          <a:xfrm>
            <a:off x="7863840" y="4983480"/>
            <a:ext cx="3108960" cy="402336"/>
          </a:xfrm>
          <a:prstGeom prst="roundRect">
            <a:avLst>
              <a:gd name="adj" fmla="val 2727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!!n4_hf"/>
          <p:cNvSpPr/>
          <p:nvPr/>
        </p:nvSpPr>
        <p:spPr>
          <a:xfrm>
            <a:off x="7863840" y="5184648"/>
            <a:ext cx="3108960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7" name="!!n4_ht"/>
          <p:cNvSpPr txBox="1"/>
          <p:nvPr/>
        </p:nvSpPr>
        <p:spPr>
          <a:xfrm>
            <a:off x="8010144" y="4983480"/>
            <a:ext cx="2816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Возврат</a:t>
            </a:r>
            <a:endParaRPr lang="en-US" sz="1400" dirty="0"/>
          </a:p>
        </p:txBody>
      </p:sp>
      <p:sp>
        <p:nvSpPr>
          <p:cNvPr id="28" name="!!n4_bt"/>
          <p:cNvSpPr txBox="1"/>
          <p:nvPr/>
        </p:nvSpPr>
        <p:spPr>
          <a:xfrm>
            <a:off x="8010144" y="5477256"/>
            <a:ext cx="2816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merged;</a:t>
            </a:r>
            <a:endParaRPr lang="en-US" sz="1500" dirty="0"/>
          </a:p>
        </p:txBody>
      </p:sp>
      <p:sp>
        <p:nvSpPr>
          <p:cNvPr id="29" name="!!n2_tag"/>
          <p:cNvSpPr txBox="1"/>
          <p:nvPr/>
        </p:nvSpPr>
        <p:spPr>
          <a:xfrm>
            <a:off x="10561320" y="2304288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F871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200" dirty="0"/>
          </a:p>
        </p:txBody>
      </p:sp>
      <p:sp>
        <p:nvSpPr>
          <p:cNvPr id="30" name="!!e1"/>
          <p:cNvSpPr/>
          <p:nvPr/>
        </p:nvSpPr>
        <p:spPr>
          <a:xfrm>
            <a:off x="8961120" y="1783080"/>
            <a:ext cx="914" cy="457200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31" name="!!e2"/>
          <p:cNvSpPr/>
          <p:nvPr/>
        </p:nvSpPr>
        <p:spPr>
          <a:xfrm>
            <a:off x="8961120" y="3154680"/>
            <a:ext cx="914" cy="457200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32" name="!!e3"/>
          <p:cNvSpPr/>
          <p:nvPr/>
        </p:nvSpPr>
        <p:spPr>
          <a:xfrm>
            <a:off x="8961120" y="4526280"/>
            <a:ext cx="914" cy="457200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86000" y="2011680"/>
            <a:ext cx="7315200" cy="73152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Чужой монолит страшно трогать</a:t>
            </a:r>
            <a:endParaRPr lang="en-US" sz="3600" dirty="0"/>
          </a:p>
        </p:txBody>
      </p:sp>
      <p:sp>
        <p:nvSpPr>
          <p:cNvPr id="8" name="!!code_b"/>
          <p:cNvSpPr/>
          <p:nvPr/>
        </p:nvSpPr>
        <p:spPr>
          <a:xfrm>
            <a:off x="548640" y="1920240"/>
            <a:ext cx="6126480" cy="4343400"/>
          </a:xfrm>
          <a:prstGeom prst="roundRect">
            <a:avLst>
              <a:gd name="adj" fmla="val 2526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!!code_h"/>
          <p:cNvSpPr/>
          <p:nvPr/>
        </p:nvSpPr>
        <p:spPr>
          <a:xfrm>
            <a:off x="548640" y="1920240"/>
            <a:ext cx="6126480" cy="402336"/>
          </a:xfrm>
          <a:prstGeom prst="roundRect">
            <a:avLst>
              <a:gd name="adj" fmla="val 27273"/>
            </a:avLst>
          </a:prstGeom>
          <a:solidFill>
            <a:srgbClr val="2A323E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0" name="!!code_hf"/>
          <p:cNvSpPr/>
          <p:nvPr/>
        </p:nvSpPr>
        <p:spPr>
          <a:xfrm>
            <a:off x="548640" y="2121408"/>
            <a:ext cx="6126480" cy="201168"/>
          </a:xfrm>
          <a:prstGeom prst="rect">
            <a:avLst/>
          </a:prstGeom>
          <a:solidFill>
            <a:srgbClr val="2A323E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1" name="!!code_ht"/>
          <p:cNvSpPr txBox="1"/>
          <p:nvPr/>
        </p:nvSpPr>
        <p:spPr>
          <a:xfrm>
            <a:off x="694944" y="1920240"/>
            <a:ext cx="5833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</a:rPr>
              <a:t>OrderService.java</a:t>
            </a:r>
            <a:endParaRPr lang="en-US" sz="1400" dirty="0"/>
          </a:p>
        </p:txBody>
      </p:sp>
      <p:sp>
        <p:nvSpPr>
          <p:cNvPr id="12" name="!!code_bt"/>
          <p:cNvSpPr txBox="1"/>
          <p:nvPr/>
        </p:nvSpPr>
        <p:spPr>
          <a:xfrm>
            <a:off x="694944" y="2414016"/>
            <a:ext cx="5833872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 merge()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merged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(int i = 0; i &lt; orders.size(); i++)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a = orders.get(i);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i + 1; j &lt; orders.size(); j++)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Order b = orders.get(j);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(b.canMerge() &amp;&amp; a.getCustomerId()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== b.getCustomerId())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absorb(a, b);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merged++;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400" dirty="0"/>
          </a:p>
        </p:txBody>
      </p:sp>
      <p:sp>
        <p:nvSpPr>
          <p:cNvPr id="13" name="p0_c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9AA4B2">
              <a:alpha val="16000"/>
            </a:srgbClr>
          </a:solidFill>
          <a:ln w="12700">
            <a:solidFill>
              <a:srgbClr val="9AA4B2">
                <a:alpha val="50000"/>
              </a:srgbClr>
            </a:solidFill>
            <a:prstDash val="solid"/>
          </a:ln>
        </p:spPr>
      </p:sp>
      <p:pic>
        <p:nvPicPr>
          <p:cNvPr id="14" name="p0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741" y="2132381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001000" y="196596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AF0"/>
                </a:solidFill>
              </a:rPr>
              <a:t>Не видно структуры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8001000" y="242316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Сотни строк, длинные методы, связи между классами — только в голове</a:t>
            </a:r>
            <a:endParaRPr lang="en-US" sz="1500" dirty="0"/>
          </a:p>
        </p:txBody>
      </p:sp>
      <p:sp>
        <p:nvSpPr>
          <p:cNvPr id="17" name="p1_c"/>
          <p:cNvSpPr/>
          <p:nvPr/>
        </p:nvSpPr>
        <p:spPr>
          <a:xfrm>
            <a:off x="7132320" y="3429000"/>
            <a:ext cx="640080" cy="640080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18" name="p1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8741" y="3595421"/>
            <a:ext cx="307238" cy="30723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001000" y="342900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AF0"/>
                </a:solidFill>
              </a:rPr>
              <a:t>Скрытые O(n²)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8001000" y="388620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Вложенный цикл по той же коллекции: на 10 000 заказов ≈10⁸ операций</a:t>
            </a:r>
            <a:endParaRPr lang="en-US" sz="1500" dirty="0"/>
          </a:p>
        </p:txBody>
      </p:sp>
      <p:sp>
        <p:nvSpPr>
          <p:cNvPr id="21" name="p2_c"/>
          <p:cNvSpPr/>
          <p:nvPr/>
        </p:nvSpPr>
        <p:spPr>
          <a:xfrm>
            <a:off x="7132320" y="4892040"/>
            <a:ext cx="640080" cy="64008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22" name="p2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741" y="5058461"/>
            <a:ext cx="307238" cy="30723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01000" y="4892040"/>
            <a:ext cx="3639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AF0"/>
                </a:solidFill>
              </a:rPr>
              <a:t>Нет гарантий</a:t>
            </a:r>
            <a:endParaRPr lang="en-US" sz="2100" dirty="0"/>
          </a:p>
        </p:txBody>
      </p:sp>
      <p:sp>
        <p:nvSpPr>
          <p:cNvPr id="24" name="Text 17"/>
          <p:cNvSpPr txBox="1"/>
          <p:nvPr/>
        </p:nvSpPr>
        <p:spPr>
          <a:xfrm>
            <a:off x="8001000" y="5349240"/>
            <a:ext cx="3639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После правки непонятно, не изменилось ли поведение программы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0" y="914400"/>
            <a:ext cx="6858000" cy="68580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Один путь — от загрузки до доказательства</a:t>
            </a:r>
            <a:endParaRPr lang="en-US" sz="3600" dirty="0"/>
          </a:p>
        </p:txBody>
      </p:sp>
      <p:sp>
        <p:nvSpPr>
          <p:cNvPr id="8" name="!!st0_b"/>
          <p:cNvSpPr/>
          <p:nvPr/>
        </p:nvSpPr>
        <p:spPr>
          <a:xfrm>
            <a:off x="548640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!!st0_h"/>
          <p:cNvSpPr/>
          <p:nvPr/>
        </p:nvSpPr>
        <p:spPr>
          <a:xfrm>
            <a:off x="548640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!!st0_hf"/>
          <p:cNvSpPr/>
          <p:nvPr/>
        </p:nvSpPr>
        <p:spPr>
          <a:xfrm>
            <a:off x="548640" y="2258568"/>
            <a:ext cx="1618488" cy="201168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1" name="!!st0_ht"/>
          <p:cNvSpPr txBox="1"/>
          <p:nvPr/>
        </p:nvSpPr>
        <p:spPr>
          <a:xfrm>
            <a:off x="694944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01 · Загрузить</a:t>
            </a:r>
            <a:endParaRPr lang="en-US" sz="1400" dirty="0"/>
          </a:p>
        </p:txBody>
      </p:sp>
      <p:pic>
        <p:nvPicPr>
          <p:cNvPr id="12" name="!!st0_ic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2660904"/>
            <a:ext cx="384048" cy="384048"/>
          </a:xfrm>
          <a:prstGeom prst="rect">
            <a:avLst/>
          </a:prstGeom>
        </p:spPr>
      </p:pic>
      <p:sp>
        <p:nvSpPr>
          <p:cNvPr id="13" name="!!st0_bt"/>
          <p:cNvSpPr txBox="1"/>
          <p:nvPr/>
        </p:nvSpPr>
        <p:spPr>
          <a:xfrm>
            <a:off x="694944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.java, .zip, .jar или папка</a:t>
            </a:r>
            <a:endParaRPr lang="en-US" sz="1400" dirty="0"/>
          </a:p>
        </p:txBody>
      </p:sp>
      <p:sp>
        <p:nvSpPr>
          <p:cNvPr id="14" name="!!sa0"/>
          <p:cNvSpPr/>
          <p:nvPr/>
        </p:nvSpPr>
        <p:spPr>
          <a:xfrm>
            <a:off x="2185416" y="3223260"/>
            <a:ext cx="239573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15" name="!!st1_b"/>
          <p:cNvSpPr/>
          <p:nvPr/>
        </p:nvSpPr>
        <p:spPr>
          <a:xfrm>
            <a:off x="2443277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!!st1_h"/>
          <p:cNvSpPr/>
          <p:nvPr/>
        </p:nvSpPr>
        <p:spPr>
          <a:xfrm>
            <a:off x="2443277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!!st1_hf"/>
          <p:cNvSpPr/>
          <p:nvPr/>
        </p:nvSpPr>
        <p:spPr>
          <a:xfrm>
            <a:off x="2443277" y="2258568"/>
            <a:ext cx="1618488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!!st1_ht"/>
          <p:cNvSpPr txBox="1"/>
          <p:nvPr/>
        </p:nvSpPr>
        <p:spPr>
          <a:xfrm>
            <a:off x="2589581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02 · Разобрать</a:t>
            </a:r>
            <a:endParaRPr lang="en-US" sz="1400" dirty="0"/>
          </a:p>
        </p:txBody>
      </p:sp>
      <p:pic>
        <p:nvPicPr>
          <p:cNvPr id="19" name="!!st1_ic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9581" y="2660904"/>
            <a:ext cx="384048" cy="384048"/>
          </a:xfrm>
          <a:prstGeom prst="rect">
            <a:avLst/>
          </a:prstGeom>
        </p:spPr>
      </p:pic>
      <p:sp>
        <p:nvSpPr>
          <p:cNvPr id="20" name="!!st1_bt"/>
          <p:cNvSpPr txBox="1"/>
          <p:nvPr/>
        </p:nvSpPr>
        <p:spPr>
          <a:xfrm>
            <a:off x="2589581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AST → дерево блоков</a:t>
            </a:r>
            <a:endParaRPr lang="en-US" sz="1400" dirty="0"/>
          </a:p>
        </p:txBody>
      </p:sp>
      <p:sp>
        <p:nvSpPr>
          <p:cNvPr id="21" name="!!sa1"/>
          <p:cNvSpPr/>
          <p:nvPr/>
        </p:nvSpPr>
        <p:spPr>
          <a:xfrm>
            <a:off x="4080053" y="3223260"/>
            <a:ext cx="239573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22" name="!!st2_b"/>
          <p:cNvSpPr/>
          <p:nvPr/>
        </p:nvSpPr>
        <p:spPr>
          <a:xfrm>
            <a:off x="4337914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3" name="!!st2_h"/>
          <p:cNvSpPr/>
          <p:nvPr/>
        </p:nvSpPr>
        <p:spPr>
          <a:xfrm>
            <a:off x="4337914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!!st2_hf"/>
          <p:cNvSpPr/>
          <p:nvPr/>
        </p:nvSpPr>
        <p:spPr>
          <a:xfrm>
            <a:off x="4337914" y="2258568"/>
            <a:ext cx="1618488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!!st2_ht"/>
          <p:cNvSpPr txBox="1"/>
          <p:nvPr/>
        </p:nvSpPr>
        <p:spPr>
          <a:xfrm>
            <a:off x="4484218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03 · Увидеть</a:t>
            </a:r>
            <a:endParaRPr lang="en-US" sz="1400" dirty="0"/>
          </a:p>
        </p:txBody>
      </p:sp>
      <p:pic>
        <p:nvPicPr>
          <p:cNvPr id="26" name="!!st2_ic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218" y="2660904"/>
            <a:ext cx="384048" cy="384048"/>
          </a:xfrm>
          <a:prstGeom prst="rect">
            <a:avLst/>
          </a:prstGeom>
        </p:spPr>
      </p:pic>
      <p:sp>
        <p:nvSpPr>
          <p:cNvPr id="27" name="!!st2_bt"/>
          <p:cNvSpPr txBox="1"/>
          <p:nvPr/>
        </p:nvSpPr>
        <p:spPr>
          <a:xfrm>
            <a:off x="4484218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Схема метода, UML, зависимости</a:t>
            </a:r>
            <a:endParaRPr lang="en-US" sz="1400" dirty="0"/>
          </a:p>
        </p:txBody>
      </p:sp>
      <p:sp>
        <p:nvSpPr>
          <p:cNvPr id="28" name="!!sa2"/>
          <p:cNvSpPr/>
          <p:nvPr/>
        </p:nvSpPr>
        <p:spPr>
          <a:xfrm>
            <a:off x="5974690" y="3223260"/>
            <a:ext cx="239573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29" name="!!st3_b"/>
          <p:cNvSpPr/>
          <p:nvPr/>
        </p:nvSpPr>
        <p:spPr>
          <a:xfrm>
            <a:off x="6232550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0" name="!!st3_h"/>
          <p:cNvSpPr/>
          <p:nvPr/>
        </p:nvSpPr>
        <p:spPr>
          <a:xfrm>
            <a:off x="6232550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1" name="!!st3_hf"/>
          <p:cNvSpPr/>
          <p:nvPr/>
        </p:nvSpPr>
        <p:spPr>
          <a:xfrm>
            <a:off x="6232550" y="2258568"/>
            <a:ext cx="1618488" cy="2011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!!st3_ht"/>
          <p:cNvSpPr txBox="1"/>
          <p:nvPr/>
        </p:nvSpPr>
        <p:spPr>
          <a:xfrm>
            <a:off x="6378854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04 · Исправить</a:t>
            </a:r>
            <a:endParaRPr lang="en-US" sz="1400" dirty="0"/>
          </a:p>
        </p:txBody>
      </p:sp>
      <p:pic>
        <p:nvPicPr>
          <p:cNvPr id="33" name="!!st3_ic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854" y="2660904"/>
            <a:ext cx="384048" cy="384048"/>
          </a:xfrm>
          <a:prstGeom prst="rect">
            <a:avLst/>
          </a:prstGeom>
        </p:spPr>
      </p:pic>
      <p:sp>
        <p:nvSpPr>
          <p:cNvPr id="34" name="!!st3_bt"/>
          <p:cNvSpPr txBox="1"/>
          <p:nvPr/>
        </p:nvSpPr>
        <p:spPr>
          <a:xfrm>
            <a:off x="6378854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В нодах, в коде или автофиксом</a:t>
            </a:r>
            <a:endParaRPr lang="en-US" sz="1400" dirty="0"/>
          </a:p>
        </p:txBody>
      </p:sp>
      <p:sp>
        <p:nvSpPr>
          <p:cNvPr id="35" name="!!sa3"/>
          <p:cNvSpPr/>
          <p:nvPr/>
        </p:nvSpPr>
        <p:spPr>
          <a:xfrm>
            <a:off x="7869326" y="3223260"/>
            <a:ext cx="239573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36" name="!!st4_b"/>
          <p:cNvSpPr/>
          <p:nvPr/>
        </p:nvSpPr>
        <p:spPr>
          <a:xfrm>
            <a:off x="8127187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37" name="!!st4_h"/>
          <p:cNvSpPr/>
          <p:nvPr/>
        </p:nvSpPr>
        <p:spPr>
          <a:xfrm>
            <a:off x="8127187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!!st4_hf"/>
          <p:cNvSpPr/>
          <p:nvPr/>
        </p:nvSpPr>
        <p:spPr>
          <a:xfrm>
            <a:off x="8127187" y="2258568"/>
            <a:ext cx="1618488" cy="20116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!!st4_ht"/>
          <p:cNvSpPr txBox="1"/>
          <p:nvPr/>
        </p:nvSpPr>
        <p:spPr>
          <a:xfrm>
            <a:off x="8273491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05 · Собрать</a:t>
            </a:r>
            <a:endParaRPr lang="en-US" sz="1400" dirty="0"/>
          </a:p>
        </p:txBody>
      </p:sp>
      <p:pic>
        <p:nvPicPr>
          <p:cNvPr id="40" name="!!st4_ic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3491" y="2660904"/>
            <a:ext cx="384048" cy="384048"/>
          </a:xfrm>
          <a:prstGeom prst="rect">
            <a:avLst/>
          </a:prstGeom>
        </p:spPr>
      </p:pic>
      <p:sp>
        <p:nvSpPr>
          <p:cNvPr id="41" name="!!st4_bt"/>
          <p:cNvSpPr txBox="1"/>
          <p:nvPr/>
        </p:nvSpPr>
        <p:spPr>
          <a:xfrm>
            <a:off x="8273491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Компиляция и исполняемый .jar</a:t>
            </a:r>
            <a:endParaRPr lang="en-US" sz="1400" dirty="0"/>
          </a:p>
        </p:txBody>
      </p:sp>
      <p:sp>
        <p:nvSpPr>
          <p:cNvPr id="42" name="!!sa4"/>
          <p:cNvSpPr/>
          <p:nvPr/>
        </p:nvSpPr>
        <p:spPr>
          <a:xfrm>
            <a:off x="9763963" y="3223260"/>
            <a:ext cx="239573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43" name="!!st5_b"/>
          <p:cNvSpPr/>
          <p:nvPr/>
        </p:nvSpPr>
        <p:spPr>
          <a:xfrm>
            <a:off x="10021824" y="2057400"/>
            <a:ext cx="1618488" cy="2331720"/>
          </a:xfrm>
          <a:prstGeom prst="roundRect">
            <a:avLst>
              <a:gd name="adj" fmla="val 678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44" name="!!st5_h"/>
          <p:cNvSpPr/>
          <p:nvPr/>
        </p:nvSpPr>
        <p:spPr>
          <a:xfrm>
            <a:off x="10021824" y="2057400"/>
            <a:ext cx="1618488" cy="402336"/>
          </a:xfrm>
          <a:prstGeom prst="roundRect">
            <a:avLst>
              <a:gd name="adj" fmla="val 2727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5" name="!!st5_hf"/>
          <p:cNvSpPr/>
          <p:nvPr/>
        </p:nvSpPr>
        <p:spPr>
          <a:xfrm>
            <a:off x="10021824" y="2258568"/>
            <a:ext cx="1618488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!!st5_ht"/>
          <p:cNvSpPr txBox="1"/>
          <p:nvPr/>
        </p:nvSpPr>
        <p:spPr>
          <a:xfrm>
            <a:off x="10168128" y="2057400"/>
            <a:ext cx="1325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06 · Доказать</a:t>
            </a:r>
            <a:endParaRPr lang="en-US" sz="1400" dirty="0"/>
          </a:p>
        </p:txBody>
      </p:sp>
      <p:pic>
        <p:nvPicPr>
          <p:cNvPr id="47" name="!!st5_ic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8128" y="2660904"/>
            <a:ext cx="384048" cy="384048"/>
          </a:xfrm>
          <a:prstGeom prst="rect">
            <a:avLst/>
          </a:prstGeom>
        </p:spPr>
      </p:pic>
      <p:sp>
        <p:nvSpPr>
          <p:cNvPr id="48" name="!!st5_bt"/>
          <p:cNvSpPr txBox="1"/>
          <p:nvPr/>
        </p:nvSpPr>
        <p:spPr>
          <a:xfrm>
            <a:off x="10168128" y="3172968"/>
            <a:ext cx="13441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Оригинал и новая версия на одних тестах</a:t>
            </a:r>
            <a:endParaRPr lang="en-US" sz="1400" dirty="0"/>
          </a:p>
        </p:txBody>
      </p:sp>
      <p:sp>
        <p:nvSpPr>
          <p:cNvPr id="49" name="Shape 39"/>
          <p:cNvSpPr/>
          <p:nvPr/>
        </p:nvSpPr>
        <p:spPr>
          <a:xfrm>
            <a:off x="548640" y="4983480"/>
            <a:ext cx="3514344" cy="731520"/>
          </a:xfrm>
          <a:prstGeom prst="roundRect">
            <a:avLst>
              <a:gd name="adj" fmla="val 15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166360"/>
            <a:ext cx="365760" cy="365760"/>
          </a:xfrm>
          <a:prstGeom prst="rect">
            <a:avLst/>
          </a:prstGeom>
        </p:spPr>
      </p:pic>
      <p:sp>
        <p:nvSpPr>
          <p:cNvPr id="51" name="Text 40"/>
          <p:cNvSpPr txBox="1"/>
          <p:nvPr/>
        </p:nvSpPr>
        <p:spPr>
          <a:xfrm>
            <a:off x="1261872" y="4983480"/>
            <a:ext cx="2645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</a:rPr>
              <a:t>Код ⇄ схема — в обе стороны</a:t>
            </a:r>
            <a:endParaRPr lang="en-US" sz="1600" dirty="0"/>
          </a:p>
        </p:txBody>
      </p:sp>
      <p:sp>
        <p:nvSpPr>
          <p:cNvPr id="52" name="Shape 41"/>
          <p:cNvSpPr/>
          <p:nvPr/>
        </p:nvSpPr>
        <p:spPr>
          <a:xfrm>
            <a:off x="4337304" y="4983480"/>
            <a:ext cx="3514344" cy="731520"/>
          </a:xfrm>
          <a:prstGeom prst="roundRect">
            <a:avLst>
              <a:gd name="adj" fmla="val 15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8472" y="5166360"/>
            <a:ext cx="365760" cy="365760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5050536" y="4983480"/>
            <a:ext cx="2645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</a:rPr>
              <a:t>Источник правды — текст кода</a:t>
            </a:r>
            <a:endParaRPr lang="en-US" sz="1600" dirty="0"/>
          </a:p>
        </p:txBody>
      </p:sp>
      <p:sp>
        <p:nvSpPr>
          <p:cNvPr id="55" name="Shape 43"/>
          <p:cNvSpPr/>
          <p:nvPr/>
        </p:nvSpPr>
        <p:spPr>
          <a:xfrm>
            <a:off x="8125968" y="4983480"/>
            <a:ext cx="3514344" cy="731520"/>
          </a:xfrm>
          <a:prstGeom prst="roundRect">
            <a:avLst>
              <a:gd name="adj" fmla="val 15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7136" y="5166360"/>
            <a:ext cx="365760" cy="365760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8839200" y="4983480"/>
            <a:ext cx="2645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AF0"/>
                </a:solidFill>
              </a:rPr>
              <a:t>Нетронутые методы — байт в байт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8229600" cy="82296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Метод — это схема, которую можно править</a:t>
            </a:r>
            <a:endParaRPr lang="en-US" sz="3600" dirty="0"/>
          </a:p>
        </p:txBody>
      </p:sp>
      <p:pic>
        <p:nvPicPr>
          <p:cNvPr id="8" name="!!shot SCREEN_TODO" descr="Редактор: схема метода merge, код Java и панель анализ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28800"/>
            <a:ext cx="7589520" cy="426933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9" name="SCREEN_TODO_badge"/>
          <p:cNvSpPr txBox="1"/>
          <p:nvPr/>
        </p:nvSpPr>
        <p:spPr>
          <a:xfrm>
            <a:off x="685800" y="1965960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3"/>
                </a:solidFill>
              </a:rPr>
              <a:t>СКРИН · заменить вручную</a:t>
            </a:r>
            <a:endParaRPr lang="en-US" sz="1200" dirty="0"/>
          </a:p>
        </p:txBody>
      </p:sp>
      <p:sp>
        <p:nvSpPr>
          <p:cNvPr id="10" name="r0_c"/>
          <p:cNvSpPr/>
          <p:nvPr/>
        </p:nvSpPr>
        <p:spPr>
          <a:xfrm>
            <a:off x="8503920" y="1874520"/>
            <a:ext cx="548640" cy="548640"/>
          </a:xfrm>
          <a:prstGeom prst="ellipse">
            <a:avLst/>
          </a:prstGeom>
          <a:solidFill>
            <a:srgbClr val="8B5CF6">
              <a:alpha val="16000"/>
            </a:srgbClr>
          </a:solidFill>
          <a:ln w="12700">
            <a:solidFill>
              <a:srgbClr val="8B5CF6">
                <a:alpha val="50000"/>
              </a:srgbClr>
            </a:solidFill>
            <a:prstDash val="solid"/>
          </a:ln>
        </p:spPr>
      </p:sp>
      <p:pic>
        <p:nvPicPr>
          <p:cNvPr id="11" name="r0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566" y="2017166"/>
            <a:ext cx="263347" cy="263347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235440" y="187452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AF0"/>
                </a:solidFill>
              </a:rPr>
              <a:t>Дерево блоков</a:t>
            </a:r>
            <a:endParaRPr lang="en-US" sz="1900" dirty="0"/>
          </a:p>
        </p:txBody>
      </p:sp>
      <p:sp>
        <p:nvSpPr>
          <p:cNvPr id="13" name="Text 7"/>
          <p:cNvSpPr txBox="1"/>
          <p:nvPr/>
        </p:nvSpPr>
        <p:spPr>
          <a:xfrm>
            <a:off x="8503920" y="251460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if, for, try, switch — ноды; выражения — текст внутри</a:t>
            </a:r>
            <a:endParaRPr lang="en-US" sz="1500" dirty="0"/>
          </a:p>
        </p:txBody>
      </p:sp>
      <p:sp>
        <p:nvSpPr>
          <p:cNvPr id="14" name="r1_c"/>
          <p:cNvSpPr/>
          <p:nvPr/>
        </p:nvSpPr>
        <p:spPr>
          <a:xfrm>
            <a:off x="8503920" y="3337560"/>
            <a:ext cx="548640" cy="548640"/>
          </a:xfrm>
          <a:prstGeom prst="ellipse">
            <a:avLst/>
          </a:prstGeom>
          <a:solidFill>
            <a:srgbClr val="5B9BFF">
              <a:alpha val="16000"/>
            </a:srgbClr>
          </a:solidFill>
          <a:ln w="12700">
            <a:solidFill>
              <a:srgbClr val="5B9BFF">
                <a:alpha val="50000"/>
              </a:srgbClr>
            </a:solidFill>
            <a:prstDash val="solid"/>
          </a:ln>
        </p:spPr>
      </p:sp>
      <p:pic>
        <p:nvPicPr>
          <p:cNvPr id="15" name="r1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6566" y="3480206"/>
            <a:ext cx="263347" cy="263347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235440" y="333756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AF0"/>
                </a:solidFill>
              </a:rPr>
              <a:t>Код ⇄ схема</a:t>
            </a:r>
            <a:endParaRPr lang="en-US" sz="1900" dirty="0"/>
          </a:p>
        </p:txBody>
      </p:sp>
      <p:sp>
        <p:nvSpPr>
          <p:cNvPr id="17" name="Text 10"/>
          <p:cNvSpPr txBox="1"/>
          <p:nvPr/>
        </p:nvSpPr>
        <p:spPr>
          <a:xfrm>
            <a:off x="8503920" y="397764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Правка ноды сразу меняет Java, правка Java — схему</a:t>
            </a:r>
            <a:endParaRPr lang="en-US" sz="1500" dirty="0"/>
          </a:p>
        </p:txBody>
      </p:sp>
      <p:sp>
        <p:nvSpPr>
          <p:cNvPr id="18" name="r2_c"/>
          <p:cNvSpPr/>
          <p:nvPr/>
        </p:nvSpPr>
        <p:spPr>
          <a:xfrm>
            <a:off x="8503920" y="4800600"/>
            <a:ext cx="548640" cy="548640"/>
          </a:xfrm>
          <a:prstGeom prst="ellipse">
            <a:avLst/>
          </a:prstGeom>
          <a:solidFill>
            <a:srgbClr val="4ADE80">
              <a:alpha val="16000"/>
            </a:srgbClr>
          </a:solidFill>
          <a:ln w="12700">
            <a:solidFill>
              <a:srgbClr val="4ADE80">
                <a:alpha val="50000"/>
              </a:srgbClr>
            </a:solidFill>
            <a:prstDash val="solid"/>
          </a:ln>
        </p:spPr>
      </p:sp>
      <p:pic>
        <p:nvPicPr>
          <p:cNvPr id="19" name="r2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6566" y="4943246"/>
            <a:ext cx="263347" cy="263347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235440" y="4800600"/>
            <a:ext cx="2404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EAF0"/>
                </a:solidFill>
              </a:rPr>
              <a:t>Код не теряется</a:t>
            </a:r>
            <a:endParaRPr lang="en-US" sz="1900" dirty="0"/>
          </a:p>
        </p:txBody>
      </p:sp>
      <p:sp>
        <p:nvSpPr>
          <p:cNvPr id="21" name="Text 13"/>
          <p:cNvSpPr txBox="1"/>
          <p:nvPr/>
        </p:nvSpPr>
        <p:spPr>
          <a:xfrm>
            <a:off x="8503920" y="5440680"/>
            <a:ext cx="3136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Неподдержанное — блок raw с исходным текстом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65760"/>
            <a:ext cx="7315200" cy="73152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Находим, где медленно и где ошибка</a:t>
            </a:r>
            <a:endParaRPr lang="en-US" sz="36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1828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4B2"/>
                </a:solidFill>
              </a:rPr>
              <a:t>Сложность OrderService.merge при n = 10 000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2194560"/>
            <a:ext cx="6949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7171"/>
                </a:solidFill>
              </a:rPr>
              <a:t>≈10⁸</a:t>
            </a:r>
            <a:pPr indent="0" marL="0">
              <a:buNone/>
            </a:pPr>
            <a:r>
              <a:rPr lang="en-US" sz="7200" b="1" dirty="0">
                <a:solidFill>
                  <a:srgbClr val="9AA4B2"/>
                </a:solidFill>
              </a:rPr>
              <a:t>  →  </a:t>
            </a:r>
            <a:pPr indent="0" marL="0">
              <a:buNone/>
            </a:pPr>
            <a:r>
              <a:rPr lang="en-US" sz="7200" b="1" dirty="0">
                <a:solidFill>
                  <a:srgbClr val="4ADE80"/>
                </a:solidFill>
              </a:rPr>
              <a:t>≈10⁴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3383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O(n·n) → O(n)</a:t>
            </a:r>
            <a:pPr indent="0" marL="0">
              <a:buNone/>
            </a:pPr>
            <a:r>
              <a:rPr lang="en-US" sz="1700" dirty="0">
                <a:solidFill>
                  <a:srgbClr val="9AA4B2"/>
                </a:solidFill>
              </a:rPr>
              <a:t>  операций · оценка, не замер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1148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6EAF0"/>
                </a:solidFill>
              </a:rPr>
              <a:t>13 детекторов + правила PMD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548640" y="466344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76656" y="466344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Вложенный цикл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2910840" y="466344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3038856" y="466344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Поиск в цикле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273040" y="466344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401056" y="466344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Строки в цикле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516636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76656" y="516636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Длинный метод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910840" y="516636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038856" y="516636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Глубокая вложенность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273040" y="516636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401056" y="516636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Мёртвый код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566928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76656" y="566928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Пустой catch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2910840" y="566928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038856" y="566928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0"/>
                </a:solidFill>
              </a:rPr>
              <a:t>== для объектов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273040" y="5669280"/>
            <a:ext cx="2225040" cy="384048"/>
          </a:xfrm>
          <a:prstGeom prst="roundRect">
            <a:avLst>
              <a:gd name="adj" fmla="val 19048"/>
            </a:avLst>
          </a:prstGeom>
          <a:solidFill>
            <a:srgbClr val="161B23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401056" y="5669280"/>
            <a:ext cx="204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FF"/>
                </a:solidFill>
              </a:rPr>
              <a:t>+ ещё 5 и PMD</a:t>
            </a:r>
            <a:endParaRPr lang="en-US" sz="1400" dirty="0"/>
          </a:p>
        </p:txBody>
      </p:sp>
      <p:pic>
        <p:nvPicPr>
          <p:cNvPr id="30" name="!!shot SCREEN_TODO" descr="Панель анализа: проблема и сложность метода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1828800"/>
            <a:ext cx="3291840" cy="447233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31" name="SCREEN_TODO_badge"/>
          <p:cNvSpPr txBox="1"/>
          <p:nvPr/>
        </p:nvSpPr>
        <p:spPr>
          <a:xfrm>
            <a:off x="8732520" y="1965960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3"/>
                </a:solidFill>
              </a:rPr>
              <a:t>СКРИН · заменить вручную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"/>
            <a:ext cx="7772400" cy="77724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Автофикс проходит Quality Gate</a:t>
            </a:r>
            <a:endParaRPr lang="en-US" sz="3600" dirty="0"/>
          </a:p>
        </p:txBody>
      </p:sp>
      <p:sp>
        <p:nvSpPr>
          <p:cNvPr id="8" name="gate_line"/>
          <p:cNvSpPr/>
          <p:nvPr/>
        </p:nvSpPr>
        <p:spPr>
          <a:xfrm>
            <a:off x="822960" y="2423160"/>
            <a:ext cx="914" cy="2286000"/>
          </a:xfrm>
          <a:prstGeom prst="line">
            <a:avLst/>
          </a:prstGeom>
          <a:noFill/>
          <a:ln w="22225">
            <a:solidFill>
              <a:srgbClr val="2A323E"/>
            </a:solidFill>
            <a:prstDash val="dash"/>
            <a:tailEnd type="triangle"/>
          </a:ln>
        </p:spPr>
      </p:sp>
      <p:sp>
        <p:nvSpPr>
          <p:cNvPr id="9" name="Shape 5"/>
          <p:cNvSpPr/>
          <p:nvPr/>
        </p:nvSpPr>
        <p:spPr>
          <a:xfrm>
            <a:off x="548640" y="1874520"/>
            <a:ext cx="548640" cy="548640"/>
          </a:xfrm>
          <a:prstGeom prst="ellipse">
            <a:avLst/>
          </a:prstGeom>
          <a:solidFill>
            <a:srgbClr val="161B23"/>
          </a:solidFill>
          <a:ln w="19050">
            <a:solidFill>
              <a:srgbClr val="5B9B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0116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18745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0"/>
                </a:solidFill>
              </a:rPr>
              <a:t>Патч к копии проекта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2788920"/>
            <a:ext cx="548640" cy="548640"/>
          </a:xfrm>
          <a:prstGeom prst="ellipse">
            <a:avLst/>
          </a:prstGeom>
          <a:solidFill>
            <a:srgbClr val="161B23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29260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27889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0"/>
                </a:solidFill>
              </a:rPr>
              <a:t>Компиляция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548640" y="3703320"/>
            <a:ext cx="548640" cy="548640"/>
          </a:xfrm>
          <a:prstGeom prst="ellipse">
            <a:avLst/>
          </a:prstGeom>
          <a:solidFill>
            <a:srgbClr val="161B23"/>
          </a:solidFill>
          <a:ln w="19050">
            <a:solidFill>
              <a:srgbClr val="4ADE80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3703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AF0"/>
                </a:solidFill>
              </a:rPr>
              <a:t>Все тесты: IO и JUnit</a:t>
            </a:r>
            <a:endParaRPr lang="en-US" sz="1700" dirty="0"/>
          </a:p>
        </p:txBody>
      </p:sp>
      <p:sp>
        <p:nvSpPr>
          <p:cNvPr id="18" name="Shape 11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rgbClr val="161B23"/>
          </a:solidFill>
          <a:ln w="19050">
            <a:solidFill>
              <a:srgbClr val="F87171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475488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4617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7171"/>
                </a:solidFill>
              </a:rPr>
              <a:t>Красное — откат, проект не меняется</a:t>
            </a:r>
            <a:endParaRPr lang="en-US" sz="1700" dirty="0"/>
          </a:p>
        </p:txBody>
      </p:sp>
      <p:pic>
        <p:nvPicPr>
          <p:cNvPr id="21" name="!!shot SCREEN_TODO" descr="Окно Quality Gate: diff фикса и шаги проверки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6632" y="1828800"/>
            <a:ext cx="6583680" cy="362651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22" name="SCREEN_TODO_badge"/>
          <p:cNvSpPr txBox="1"/>
          <p:nvPr/>
        </p:nvSpPr>
        <p:spPr>
          <a:xfrm>
            <a:off x="5193792" y="1965960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3"/>
                </a:solidFill>
              </a:rPr>
              <a:t>СКРИН · заменить вручную</a:t>
            </a:r>
            <a:endParaRPr lang="en-US" sz="1200" dirty="0"/>
          </a:p>
        </p:txBody>
      </p:sp>
      <p:sp>
        <p:nvSpPr>
          <p:cNvPr id="23" name="Text 14"/>
          <p:cNvSpPr txBox="1"/>
          <p:nvPr/>
        </p:nvSpPr>
        <p:spPr>
          <a:xfrm>
            <a:off x="548640" y="57150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6EAF0"/>
                </a:solidFill>
              </a:rPr>
              <a:t>3 автофикса: </a:t>
            </a:r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индекс по id · LinkedHashSet · StringBuilder. Порядок перебора сохраняется, ссылки обновляются во всех файлах, включая тесты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1371600"/>
            <a:ext cx="7772400" cy="77724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Поведение совпадает — и это доказано</a:t>
            </a:r>
            <a:endParaRPr lang="en-US" sz="3600" dirty="0"/>
          </a:p>
        </p:txBody>
      </p:sp>
      <p:sp>
        <p:nvSpPr>
          <p:cNvPr id="8" name="!!v1_b"/>
          <p:cNvSpPr/>
          <p:nvPr/>
        </p:nvSpPr>
        <p:spPr>
          <a:xfrm>
            <a:off x="548640" y="18288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!!v1_h"/>
          <p:cNvSpPr/>
          <p:nvPr/>
        </p:nvSpPr>
        <p:spPr>
          <a:xfrm>
            <a:off x="548640" y="1828800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5E6878"/>
          </a:solidFill>
          <a:ln w="12700">
            <a:solidFill>
              <a:srgbClr val="5E6878"/>
            </a:solidFill>
            <a:prstDash val="solid"/>
          </a:ln>
        </p:spPr>
      </p:sp>
      <p:sp>
        <p:nvSpPr>
          <p:cNvPr id="10" name="!!v1_hf"/>
          <p:cNvSpPr/>
          <p:nvPr/>
        </p:nvSpPr>
        <p:spPr>
          <a:xfrm>
            <a:off x="548640" y="2029968"/>
            <a:ext cx="2651760" cy="201168"/>
          </a:xfrm>
          <a:prstGeom prst="rect">
            <a:avLst/>
          </a:prstGeom>
          <a:solidFill>
            <a:srgbClr val="5E6878"/>
          </a:solidFill>
          <a:ln w="12700">
            <a:solidFill>
              <a:srgbClr val="5E6878"/>
            </a:solidFill>
            <a:prstDash val="solid"/>
          </a:ln>
        </p:spPr>
      </p:sp>
      <p:sp>
        <p:nvSpPr>
          <p:cNvPr id="11" name="!!v1_ht"/>
          <p:cNvSpPr txBox="1"/>
          <p:nvPr/>
        </p:nvSpPr>
        <p:spPr>
          <a:xfrm>
            <a:off x="694944" y="182880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AF0"/>
                </a:solidFill>
              </a:rPr>
              <a:t>Оригинал</a:t>
            </a:r>
            <a:endParaRPr lang="en-US" sz="1400" dirty="0"/>
          </a:p>
        </p:txBody>
      </p:sp>
      <p:sp>
        <p:nvSpPr>
          <p:cNvPr id="12" name="!!v1_bt"/>
          <p:cNvSpPr txBox="1"/>
          <p:nvPr/>
        </p:nvSpPr>
        <p:spPr>
          <a:xfrm>
            <a:off x="694944" y="232257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версия 1</a:t>
            </a:r>
            <a:endParaRPr lang="en-US" sz="1500" dirty="0"/>
          </a:p>
        </p:txBody>
      </p:sp>
      <p:sp>
        <p:nvSpPr>
          <p:cNvPr id="13" name="!!v2_b"/>
          <p:cNvSpPr/>
          <p:nvPr/>
        </p:nvSpPr>
        <p:spPr>
          <a:xfrm>
            <a:off x="548640" y="301752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4" name="!!v2_h"/>
          <p:cNvSpPr/>
          <p:nvPr/>
        </p:nvSpPr>
        <p:spPr>
          <a:xfrm>
            <a:off x="548640" y="3017520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5" name="!!v2_hf"/>
          <p:cNvSpPr/>
          <p:nvPr/>
        </p:nvSpPr>
        <p:spPr>
          <a:xfrm>
            <a:off x="548640" y="3218688"/>
            <a:ext cx="2651760" cy="201168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6" name="!!v2_ht"/>
          <p:cNvSpPr txBox="1"/>
          <p:nvPr/>
        </p:nvSpPr>
        <p:spPr>
          <a:xfrm>
            <a:off x="694944" y="301752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После правок</a:t>
            </a:r>
            <a:endParaRPr lang="en-US" sz="1400" dirty="0"/>
          </a:p>
        </p:txBody>
      </p:sp>
      <p:sp>
        <p:nvSpPr>
          <p:cNvPr id="17" name="!!v2_bt"/>
          <p:cNvSpPr txBox="1"/>
          <p:nvPr/>
        </p:nvSpPr>
        <p:spPr>
          <a:xfrm>
            <a:off x="694944" y="3511296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версия 4</a:t>
            </a:r>
            <a:endParaRPr lang="en-US" sz="1500" dirty="0"/>
          </a:p>
        </p:txBody>
      </p:sp>
      <p:sp>
        <p:nvSpPr>
          <p:cNvPr id="18" name="!!v3_b"/>
          <p:cNvSpPr/>
          <p:nvPr/>
        </p:nvSpPr>
        <p:spPr>
          <a:xfrm>
            <a:off x="3886200" y="2103120"/>
            <a:ext cx="3474720" cy="155448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9" name="!!v3_h"/>
          <p:cNvSpPr/>
          <p:nvPr/>
        </p:nvSpPr>
        <p:spPr>
          <a:xfrm>
            <a:off x="3886200" y="2103120"/>
            <a:ext cx="3474720" cy="402336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!!v3_hf"/>
          <p:cNvSpPr/>
          <p:nvPr/>
        </p:nvSpPr>
        <p:spPr>
          <a:xfrm>
            <a:off x="3886200" y="2304288"/>
            <a:ext cx="347472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!!v3_ht"/>
          <p:cNvSpPr txBox="1"/>
          <p:nvPr/>
        </p:nvSpPr>
        <p:spPr>
          <a:xfrm>
            <a:off x="4032504" y="21031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Одни и те же тесты</a:t>
            </a:r>
            <a:endParaRPr lang="en-US" sz="1400" dirty="0"/>
          </a:p>
        </p:txBody>
      </p:sp>
      <p:sp>
        <p:nvSpPr>
          <p:cNvPr id="22" name="!!v3_bt"/>
          <p:cNvSpPr txBox="1"/>
          <p:nvPr/>
        </p:nvSpPr>
        <p:spPr>
          <a:xfrm>
            <a:off x="4032504" y="2596896"/>
            <a:ext cx="318211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IO: stdin → stdout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JUnit</a:t>
            </a:r>
            <a:endParaRPr lang="en-US" sz="1500" dirty="0"/>
          </a:p>
        </p:txBody>
      </p:sp>
      <p:sp>
        <p:nvSpPr>
          <p:cNvPr id="23" name="!!v4_b"/>
          <p:cNvSpPr/>
          <p:nvPr/>
        </p:nvSpPr>
        <p:spPr>
          <a:xfrm>
            <a:off x="8046720" y="2103120"/>
            <a:ext cx="3593592" cy="1554480"/>
          </a:xfrm>
          <a:prstGeom prst="roundRect">
            <a:avLst>
              <a:gd name="adj" fmla="val 7059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4" name="!!v4_h"/>
          <p:cNvSpPr/>
          <p:nvPr/>
        </p:nvSpPr>
        <p:spPr>
          <a:xfrm>
            <a:off x="8046720" y="2103120"/>
            <a:ext cx="3593592" cy="402336"/>
          </a:xfrm>
          <a:prstGeom prst="roundRect">
            <a:avLst>
              <a:gd name="adj" fmla="val 27273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5" name="!!v4_hf"/>
          <p:cNvSpPr/>
          <p:nvPr/>
        </p:nvSpPr>
        <p:spPr>
          <a:xfrm>
            <a:off x="8046720" y="2304288"/>
            <a:ext cx="3593592" cy="2011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!!v4_ht"/>
          <p:cNvSpPr txBox="1"/>
          <p:nvPr/>
        </p:nvSpPr>
        <p:spPr>
          <a:xfrm>
            <a:off x="8193024" y="2103120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Сравнение</a:t>
            </a:r>
            <a:endParaRPr lang="en-US" sz="1400" dirty="0"/>
          </a:p>
        </p:txBody>
      </p:sp>
      <p:sp>
        <p:nvSpPr>
          <p:cNvPr id="27" name="!!v4_bt"/>
          <p:cNvSpPr txBox="1"/>
          <p:nvPr/>
        </p:nvSpPr>
        <p:spPr>
          <a:xfrm>
            <a:off x="8193024" y="2596896"/>
            <a:ext cx="3300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вывод и exit code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6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совпадает</a:t>
            </a:r>
            <a:endParaRPr lang="en-US" sz="1500" dirty="0"/>
          </a:p>
        </p:txBody>
      </p:sp>
      <p:sp>
        <p:nvSpPr>
          <p:cNvPr id="28" name="va1"/>
          <p:cNvSpPr/>
          <p:nvPr/>
        </p:nvSpPr>
        <p:spPr>
          <a:xfrm>
            <a:off x="3200400" y="2286000"/>
            <a:ext cx="685800" cy="411480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29" name="va2"/>
          <p:cNvSpPr/>
          <p:nvPr/>
        </p:nvSpPr>
        <p:spPr>
          <a:xfrm flipV="1">
            <a:off x="3200400" y="3063240"/>
            <a:ext cx="685800" cy="411480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30" name="va3"/>
          <p:cNvSpPr/>
          <p:nvPr/>
        </p:nvSpPr>
        <p:spPr>
          <a:xfrm>
            <a:off x="7360920" y="2880360"/>
            <a:ext cx="685800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pic>
        <p:nvPicPr>
          <p:cNvPr id="31" name="!!shot SCREEN_TODO" descr="Панель тестов: поведение совпадает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43400"/>
            <a:ext cx="6812280" cy="213329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pic>
      <p:sp>
        <p:nvSpPr>
          <p:cNvPr id="32" name="SCREEN_TODO_badge"/>
          <p:cNvSpPr txBox="1"/>
          <p:nvPr/>
        </p:nvSpPr>
        <p:spPr>
          <a:xfrm>
            <a:off x="685800" y="4480560"/>
            <a:ext cx="2514600" cy="329184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E13"/>
                </a:solidFill>
              </a:rPr>
              <a:t>СКРИН · заменить вручную</a:t>
            </a:r>
            <a:endParaRPr lang="en-US" sz="1200" dirty="0"/>
          </a:p>
        </p:txBody>
      </p:sp>
      <p:sp>
        <p:nvSpPr>
          <p:cNvPr id="33" name="q0_c"/>
          <p:cNvSpPr/>
          <p:nvPr/>
        </p:nvSpPr>
        <p:spPr>
          <a:xfrm>
            <a:off x="8046720" y="4389120"/>
            <a:ext cx="502920" cy="50292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</p:sp>
      <p:pic>
        <p:nvPicPr>
          <p:cNvPr id="34" name="q0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479" y="4519879"/>
            <a:ext cx="241402" cy="241402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686800" y="438912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</a:rPr>
              <a:t>Docker-песочница, сеть выключена</a:t>
            </a:r>
            <a:endParaRPr lang="en-US" sz="1500" dirty="0"/>
          </a:p>
        </p:txBody>
      </p:sp>
      <p:sp>
        <p:nvSpPr>
          <p:cNvPr id="36" name="q1_c"/>
          <p:cNvSpPr/>
          <p:nvPr/>
        </p:nvSpPr>
        <p:spPr>
          <a:xfrm>
            <a:off x="8046720" y="5102352"/>
            <a:ext cx="502920" cy="50292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pic>
        <p:nvPicPr>
          <p:cNvPr id="37" name="q1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7479" y="5233111"/>
            <a:ext cx="241402" cy="24140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686800" y="510235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</a:rPr>
              <a:t>Шумные строки (время, id) не мешают</a:t>
            </a:r>
            <a:endParaRPr lang="en-US" sz="1500" dirty="0"/>
          </a:p>
        </p:txBody>
      </p:sp>
      <p:sp>
        <p:nvSpPr>
          <p:cNvPr id="39" name="q2_c"/>
          <p:cNvSpPr/>
          <p:nvPr/>
        </p:nvSpPr>
        <p:spPr>
          <a:xfrm>
            <a:off x="8046720" y="5815584"/>
            <a:ext cx="502920" cy="502920"/>
          </a:xfrm>
          <a:prstGeom prst="ellipse">
            <a:avLst/>
          </a:prstGeom>
          <a:solidFill>
            <a:srgbClr val="F87171">
              <a:alpha val="16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pic>
        <p:nvPicPr>
          <p:cNvPr id="40" name="q2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7479" y="5946343"/>
            <a:ext cx="241402" cy="24140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8686800" y="5815584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0"/>
                </a:solidFill>
              </a:rPr>
              <a:t>Красный тест — построчный diff вывода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viol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-457200"/>
            <a:ext cx="6858000" cy="68580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1200" dirty="0"/>
          </a:p>
        </p:txBody>
      </p:sp>
      <p:sp>
        <p:nvSpPr>
          <p:cNvPr id="7" name="!!title"/>
          <p:cNvSpPr txBox="1"/>
          <p:nvPr/>
        </p:nvSpPr>
        <p:spPr>
          <a:xfrm>
            <a:off x="548640" y="9144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AF0"/>
                </a:solidFill>
              </a:rPr>
              <a:t>Под капотом</a:t>
            </a:r>
            <a:endParaRPr lang="en-US" sz="3600" dirty="0"/>
          </a:p>
        </p:txBody>
      </p:sp>
      <p:sp>
        <p:nvSpPr>
          <p:cNvPr id="8" name="!!kf_b"/>
          <p:cNvSpPr/>
          <p:nvPr/>
        </p:nvSpPr>
        <p:spPr>
          <a:xfrm>
            <a:off x="548640" y="18288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9" name="!!kf_h"/>
          <p:cNvSpPr/>
          <p:nvPr/>
        </p:nvSpPr>
        <p:spPr>
          <a:xfrm>
            <a:off x="548640" y="1828800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0" name="!!kf_hf"/>
          <p:cNvSpPr/>
          <p:nvPr/>
        </p:nvSpPr>
        <p:spPr>
          <a:xfrm>
            <a:off x="548640" y="2029968"/>
            <a:ext cx="3291840" cy="201168"/>
          </a:xfrm>
          <a:prstGeom prst="rect">
            <a:avLst/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sp>
        <p:nvSpPr>
          <p:cNvPr id="11" name="!!kf_ht"/>
          <p:cNvSpPr txBox="1"/>
          <p:nvPr/>
        </p:nvSpPr>
        <p:spPr>
          <a:xfrm>
            <a:off x="694944" y="182880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Фронтенд</a:t>
            </a:r>
            <a:endParaRPr lang="en-US" sz="1400" dirty="0"/>
          </a:p>
        </p:txBody>
      </p:sp>
      <p:sp>
        <p:nvSpPr>
          <p:cNvPr id="12" name="!!kf_bt"/>
          <p:cNvSpPr txBox="1"/>
          <p:nvPr/>
        </p:nvSpPr>
        <p:spPr>
          <a:xfrm>
            <a:off x="694944" y="2322576"/>
            <a:ext cx="299923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React + TypeScript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React Flow + ELK — схема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Monaco — код</a:t>
            </a:r>
            <a:endParaRPr lang="en-US" sz="1500" dirty="0"/>
          </a:p>
        </p:txBody>
      </p:sp>
      <p:sp>
        <p:nvSpPr>
          <p:cNvPr id="13" name="ka0"/>
          <p:cNvSpPr/>
          <p:nvPr/>
        </p:nvSpPr>
        <p:spPr>
          <a:xfrm>
            <a:off x="3886200" y="2715768"/>
            <a:ext cx="516636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14" name="Text 10"/>
          <p:cNvSpPr txBox="1"/>
          <p:nvPr/>
        </p:nvSpPr>
        <p:spPr>
          <a:xfrm>
            <a:off x="3840480" y="2331720"/>
            <a:ext cx="6080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</a:t>
            </a:r>
            <a:endParaRPr lang="en-US" sz="1200" dirty="0"/>
          </a:p>
        </p:txBody>
      </p:sp>
      <p:sp>
        <p:nvSpPr>
          <p:cNvPr id="15" name="!!kb_b"/>
          <p:cNvSpPr/>
          <p:nvPr/>
        </p:nvSpPr>
        <p:spPr>
          <a:xfrm>
            <a:off x="4448556" y="18288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16" name="!!kb_h"/>
          <p:cNvSpPr/>
          <p:nvPr/>
        </p:nvSpPr>
        <p:spPr>
          <a:xfrm>
            <a:off x="4448556" y="1828800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!!kb_hf"/>
          <p:cNvSpPr/>
          <p:nvPr/>
        </p:nvSpPr>
        <p:spPr>
          <a:xfrm>
            <a:off x="4448556" y="2029968"/>
            <a:ext cx="3291840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!!kb_ht"/>
          <p:cNvSpPr txBox="1"/>
          <p:nvPr/>
        </p:nvSpPr>
        <p:spPr>
          <a:xfrm>
            <a:off x="4594860" y="182880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Бэкенд</a:t>
            </a:r>
            <a:endParaRPr lang="en-US" sz="1400" dirty="0"/>
          </a:p>
        </p:txBody>
      </p:sp>
      <p:sp>
        <p:nvSpPr>
          <p:cNvPr id="19" name="!!kb_bt"/>
          <p:cNvSpPr txBox="1"/>
          <p:nvPr/>
        </p:nvSpPr>
        <p:spPr>
          <a:xfrm>
            <a:off x="4594860" y="2322576"/>
            <a:ext cx="299923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Java 21 · Spring Boot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JavaParser + Symbol Solver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анализ · фиксы · тесты</a:t>
            </a:r>
            <a:endParaRPr lang="en-US" sz="1500" dirty="0"/>
          </a:p>
        </p:txBody>
      </p:sp>
      <p:sp>
        <p:nvSpPr>
          <p:cNvPr id="20" name="ka1"/>
          <p:cNvSpPr/>
          <p:nvPr/>
        </p:nvSpPr>
        <p:spPr>
          <a:xfrm>
            <a:off x="7786116" y="2715768"/>
            <a:ext cx="516636" cy="914"/>
          </a:xfrm>
          <a:prstGeom prst="line">
            <a:avLst/>
          </a:prstGeom>
          <a:noFill/>
          <a:ln w="22225">
            <a:solidFill>
              <a:srgbClr val="9AA4B2"/>
            </a:solidFill>
            <a:prstDash val="dash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7740396" y="2331720"/>
            <a:ext cx="6080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запуск</a:t>
            </a:r>
            <a:endParaRPr lang="en-US" sz="1200" dirty="0"/>
          </a:p>
        </p:txBody>
      </p:sp>
      <p:sp>
        <p:nvSpPr>
          <p:cNvPr id="22" name="!!kd_b"/>
          <p:cNvSpPr/>
          <p:nvPr/>
        </p:nvSpPr>
        <p:spPr>
          <a:xfrm>
            <a:off x="8348472" y="1828800"/>
            <a:ext cx="3291840" cy="1783080"/>
          </a:xfrm>
          <a:prstGeom prst="roundRect">
            <a:avLst>
              <a:gd name="adj" fmla="val 615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45000"/>
              </a:srgbClr>
            </a:outerShdw>
          </a:effectLst>
        </p:spPr>
      </p:sp>
      <p:sp>
        <p:nvSpPr>
          <p:cNvPr id="23" name="!!kd_h"/>
          <p:cNvSpPr/>
          <p:nvPr/>
        </p:nvSpPr>
        <p:spPr>
          <a:xfrm>
            <a:off x="8348472" y="1828800"/>
            <a:ext cx="3291840" cy="402336"/>
          </a:xfrm>
          <a:prstGeom prst="roundRect">
            <a:avLst>
              <a:gd name="adj" fmla="val 27273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!!kd_hf"/>
          <p:cNvSpPr/>
          <p:nvPr/>
        </p:nvSpPr>
        <p:spPr>
          <a:xfrm>
            <a:off x="8348472" y="2029968"/>
            <a:ext cx="329184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!!kd_ht"/>
          <p:cNvSpPr txBox="1"/>
          <p:nvPr/>
        </p:nvSpPr>
        <p:spPr>
          <a:xfrm>
            <a:off x="8494776" y="1828800"/>
            <a:ext cx="29992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E13"/>
                </a:solidFill>
              </a:rPr>
              <a:t>Песочница</a:t>
            </a:r>
            <a:endParaRPr lang="en-US" sz="1400" dirty="0"/>
          </a:p>
        </p:txBody>
      </p:sp>
      <p:sp>
        <p:nvSpPr>
          <p:cNvPr id="26" name="!!kd_bt"/>
          <p:cNvSpPr txBox="1"/>
          <p:nvPr/>
        </p:nvSpPr>
        <p:spPr>
          <a:xfrm>
            <a:off x="8494776" y="2322576"/>
            <a:ext cx="2999232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Docker на каждый запуск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javax.tools — компиляция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E6EAF0"/>
                </a:solidFill>
              </a:rPr>
              <a:t>сеть выключена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548640" y="4114800"/>
            <a:ext cx="2567178" cy="1920240"/>
          </a:xfrm>
          <a:prstGeom prst="roundRect">
            <a:avLst>
              <a:gd name="adj" fmla="val 571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77240" y="429768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B9BFF"/>
                </a:solidFill>
              </a:rPr>
              <a:t>13</a:t>
            </a:r>
            <a:endParaRPr lang="en-US" sz="4400" dirty="0"/>
          </a:p>
        </p:txBody>
      </p:sp>
      <p:sp>
        <p:nvSpPr>
          <p:cNvPr id="29" name="Text 25"/>
          <p:cNvSpPr txBox="1"/>
          <p:nvPr/>
        </p:nvSpPr>
        <p:spPr>
          <a:xfrm>
            <a:off x="777240" y="516636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детекторов + правила PMD</a:t>
            </a:r>
            <a:endParaRPr lang="en-US" sz="1500" dirty="0"/>
          </a:p>
        </p:txBody>
      </p:sp>
      <p:sp>
        <p:nvSpPr>
          <p:cNvPr id="30" name="Shape 26"/>
          <p:cNvSpPr/>
          <p:nvPr/>
        </p:nvSpPr>
        <p:spPr>
          <a:xfrm>
            <a:off x="3390138" y="4114800"/>
            <a:ext cx="2567178" cy="1920240"/>
          </a:xfrm>
          <a:prstGeom prst="roundRect">
            <a:avLst>
              <a:gd name="adj" fmla="val 571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618738" y="429768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DE80"/>
                </a:solidFill>
              </a:rPr>
              <a:t>3</a:t>
            </a:r>
            <a:endParaRPr lang="en-US" sz="4400" dirty="0"/>
          </a:p>
        </p:txBody>
      </p:sp>
      <p:sp>
        <p:nvSpPr>
          <p:cNvPr id="32" name="Text 28"/>
          <p:cNvSpPr txBox="1"/>
          <p:nvPr/>
        </p:nvSpPr>
        <p:spPr>
          <a:xfrm>
            <a:off x="3618738" y="516636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автофикса через Quality Gate</a:t>
            </a:r>
            <a:endParaRPr lang="en-US" sz="1500" dirty="0"/>
          </a:p>
        </p:txBody>
      </p:sp>
      <p:sp>
        <p:nvSpPr>
          <p:cNvPr id="33" name="Shape 29"/>
          <p:cNvSpPr/>
          <p:nvPr/>
        </p:nvSpPr>
        <p:spPr>
          <a:xfrm>
            <a:off x="6231636" y="4114800"/>
            <a:ext cx="2567178" cy="1920240"/>
          </a:xfrm>
          <a:prstGeom prst="roundRect">
            <a:avLst>
              <a:gd name="adj" fmla="val 571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460236" y="429768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5CF6"/>
                </a:solidFill>
              </a:rPr>
              <a:t>830+</a:t>
            </a:r>
            <a:endParaRPr lang="en-US" sz="4400" dirty="0"/>
          </a:p>
        </p:txBody>
      </p:sp>
      <p:sp>
        <p:nvSpPr>
          <p:cNvPr id="35" name="Text 31"/>
          <p:cNvSpPr txBox="1"/>
          <p:nvPr/>
        </p:nvSpPr>
        <p:spPr>
          <a:xfrm>
            <a:off x="6460236" y="516636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автотестов: бэк и фронт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9073134" y="4114800"/>
            <a:ext cx="2567178" cy="1920240"/>
          </a:xfrm>
          <a:prstGeom prst="roundRect">
            <a:avLst>
              <a:gd name="adj" fmla="val 5714"/>
            </a:avLst>
          </a:prstGeom>
          <a:solidFill>
            <a:srgbClr val="161B23"/>
          </a:solidFill>
          <a:ln w="12700">
            <a:solidFill>
              <a:srgbClr val="2A323E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301734" y="4297680"/>
            <a:ext cx="21099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BBF24"/>
                </a:solidFill>
              </a:rPr>
              <a:t>LLM</a:t>
            </a:r>
            <a:endParaRPr lang="en-US" sz="4400" dirty="0"/>
          </a:p>
        </p:txBody>
      </p:sp>
      <p:sp>
        <p:nvSpPr>
          <p:cNvPr id="38" name="Text 34"/>
          <p:cNvSpPr txBox="1"/>
          <p:nvPr/>
        </p:nvSpPr>
        <p:spPr>
          <a:xfrm>
            <a:off x="9301734" y="5166360"/>
            <a:ext cx="21099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</a:rPr>
              <a:t>по желанию — без ключа всё работает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glow" descr="/tmp/claude-1000/-home-stanislav-IdeaProjects-Blueprint/679672f5-c201-4df3-8ee2-0d81daca20c2/scratchpad/deck/assets/glow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457200"/>
            <a:ext cx="8229600" cy="8229600"/>
          </a:xfrm>
          <a:prstGeom prst="rect">
            <a:avLst/>
          </a:prstGeom>
        </p:spPr>
      </p:pic>
      <p:sp>
        <p:nvSpPr>
          <p:cNvPr id="3" name="!!logo"/>
          <p:cNvSpPr/>
          <p:nvPr/>
        </p:nvSpPr>
        <p:spPr>
          <a:xfrm>
            <a:off x="548640" y="438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4" name="!!logo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12064"/>
            <a:ext cx="219456" cy="219456"/>
          </a:xfrm>
          <a:prstGeom prst="rect">
            <a:avLst/>
          </a:prstGeom>
        </p:spPr>
      </p:pic>
      <p:sp>
        <p:nvSpPr>
          <p:cNvPr id="5" name="!!brand"/>
          <p:cNvSpPr txBox="1"/>
          <p:nvPr/>
        </p:nvSpPr>
        <p:spPr>
          <a:xfrm>
            <a:off x="1024128" y="438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4B2"/>
                </a:solidFill>
              </a:rPr>
              <a:t>Java Blueprints</a:t>
            </a:r>
            <a:endParaRPr lang="en-US" sz="1400" dirty="0"/>
          </a:p>
        </p:txBody>
      </p:sp>
      <p:sp>
        <p:nvSpPr>
          <p:cNvPr id="6" name="!!num"/>
          <p:cNvSpPr txBox="1"/>
          <p:nvPr/>
        </p:nvSpPr>
        <p:spPr>
          <a:xfrm>
            <a:off x="10177272" y="4389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09</a:t>
            </a:r>
            <a:endParaRPr lang="en-US" sz="1200" dirty="0"/>
          </a:p>
        </p:txBody>
      </p:sp>
      <p:sp>
        <p:nvSpPr>
          <p:cNvPr id="7" name="!!logo"/>
          <p:cNvSpPr/>
          <p:nvPr/>
        </p:nvSpPr>
        <p:spPr>
          <a:xfrm>
            <a:off x="731520" y="132588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5B9BFF"/>
          </a:solidFill>
          <a:ln w="12700">
            <a:solidFill>
              <a:srgbClr val="5B9BFF"/>
            </a:solidFill>
            <a:prstDash val="solid"/>
          </a:ln>
        </p:spPr>
      </p:sp>
      <p:pic>
        <p:nvPicPr>
          <p:cNvPr id="8" name="!!logo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1472184"/>
            <a:ext cx="438912" cy="438912"/>
          </a:xfrm>
          <a:prstGeom prst="rect">
            <a:avLst/>
          </a:prstGeom>
        </p:spPr>
      </p:pic>
      <p:sp>
        <p:nvSpPr>
          <p:cNvPr id="9" name="!!title"/>
          <p:cNvSpPr txBox="1"/>
          <p:nvPr/>
        </p:nvSpPr>
        <p:spPr>
          <a:xfrm>
            <a:off x="731520" y="233172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0"/>
                </a:solidFill>
              </a:rPr>
              <a:t>Спасибо!</a:t>
            </a:r>
            <a:endParaRPr lang="en-US" sz="60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35204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9BFF"/>
                </a:solidFill>
              </a:rPr>
              <a:t>Видеть код. Ускорять. Доказывать.</a:t>
            </a:r>
            <a:endParaRPr lang="en-US" sz="2400" dirty="0"/>
          </a:p>
        </p:txBody>
      </p:sp>
      <p:sp>
        <p:nvSpPr>
          <p:cNvPr id="11" name="TEAM_PLACEHOLDER"/>
          <p:cNvSpPr txBox="1"/>
          <p:nvPr/>
        </p:nvSpPr>
        <p:spPr>
          <a:xfrm>
            <a:off x="731520" y="42519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4B2"/>
                </a:solidFill>
              </a:rPr>
              <a:t>[Название команды] · кейс [Компания]</a:t>
            </a:r>
            <a:endParaRPr lang="en-US" sz="1700" dirty="0"/>
          </a:p>
        </p:txBody>
      </p:sp>
      <p:sp>
        <p:nvSpPr>
          <p:cNvPr id="12" name="QR_PLACEHOLDER_GitHub"/>
          <p:cNvSpPr/>
          <p:nvPr/>
        </p:nvSpPr>
        <p:spPr>
          <a:xfrm>
            <a:off x="6903720" y="1737360"/>
            <a:ext cx="22402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9AA4B2"/>
            </a:solidFill>
            <a:prstDash val="dash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2088" y="224028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0372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вставить QR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690372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AF0"/>
                </a:solidFill>
              </a:rPr>
              <a:t>Исходный код</a:t>
            </a:r>
            <a:endParaRPr lang="en-US" sz="1700" dirty="0"/>
          </a:p>
        </p:txBody>
      </p:sp>
      <p:sp>
        <p:nvSpPr>
          <p:cNvPr id="16" name="QR_PLACEHOLDER_Демо"/>
          <p:cNvSpPr/>
          <p:nvPr/>
        </p:nvSpPr>
        <p:spPr>
          <a:xfrm>
            <a:off x="9418320" y="1737360"/>
            <a:ext cx="2240280" cy="2240280"/>
          </a:xfrm>
          <a:prstGeom prst="roundRect">
            <a:avLst>
              <a:gd name="adj" fmla="val 5714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9AA4B2"/>
            </a:solidFill>
            <a:prstDash val="dash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6688" y="2240280"/>
            <a:ext cx="914400" cy="91440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418320" y="32918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2"/>
                </a:solidFill>
              </a:rPr>
              <a:t>вставить QR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9418320" y="4114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6EAF0"/>
                </a:solidFill>
              </a:rPr>
              <a:t>Демо-стенд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Java Blueprints Graphite">
  <a:themeElements>
    <a:clrScheme name="Java Blueprints Graphite">
      <a:dk1>
        <a:srgbClr val="0B0E13"/>
      </a:dk1>
      <a:lt1>
        <a:srgbClr val="FFFFFF"/>
      </a:lt1>
      <a:dk2>
        <a:srgbClr val="11151B"/>
      </a:dk2>
      <a:lt2>
        <a:srgbClr val="E6EAF0"/>
      </a:lt2>
      <a:accent1>
        <a:srgbClr val="5B9BFF"/>
      </a:accent1>
      <a:accent2>
        <a:srgbClr val="4ADE80"/>
      </a:accent2>
      <a:accent3>
        <a:srgbClr val="8B5CF6"/>
      </a:accent3>
      <a:accent4>
        <a:srgbClr val="FBBF24"/>
      </a:accent4>
      <a:accent5>
        <a:srgbClr val="F87171"/>
      </a:accent5>
      <a:accent6>
        <a:srgbClr val="22D3EE"/>
      </a:accent6>
      <a:hlink>
        <a:srgbClr val="5B9BFF"/>
      </a:hlink>
      <a:folHlink>
        <a:srgbClr val="A78BFA"/>
      </a:folHlink>
    </a:clrScheme>
    <a:fontScheme name="Java Blueprints Graphi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Blueprints</dc:title>
  <dc:subject>PptxGenJS Presentation</dc:subject>
  <dc:creator>PptxGenJS</dc:creator>
  <cp:lastModifiedBy>PptxGenJS</cp:lastModifiedBy>
  <cp:revision>1</cp:revision>
  <dcterms:created xsi:type="dcterms:W3CDTF">2026-10-25T00:04:47Z</dcterms:created>
  <dcterms:modified xsi:type="dcterms:W3CDTF">2026-10-25T00:04:47Z</dcterms:modified>
</cp:coreProperties>
</file>